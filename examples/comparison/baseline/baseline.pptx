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4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914400"/>
            <a:ext cx="3291840" cy="3291840"/>
          </a:xfrm>
          <a:prstGeom prst="ellipse">
            <a:avLst/>
          </a:prstGeom>
          <a:solidFill>
            <a:srgbClr val="4A7C59"/>
          </a:solidFill>
          <a:ln/>
          <a:effectLst>
            <a:outerShdw sx="100000" sy="100000" kx="0" ky="0" algn="bl" rotWithShape="0" blurRad="254000" dist="101600" dir="16200000">
              <a:srgbClr val="000000">
                <a:alpha val="3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812280" y="1143000"/>
            <a:ext cx="2834640" cy="2834640"/>
          </a:xfrm>
          <a:prstGeom prst="ellipse">
            <a:avLst/>
          </a:prstGeom>
          <a:ln w="12700">
            <a:solidFill>
              <a:srgbClr val="F5F0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9728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4A7C5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SPRING NEW MENU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5F0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카페 신제품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5F0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말차라떼 제안서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프리미엄 말차 라인업으로 시즌 매출을 견인할 전략 제안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메뉴개발팀  |  2026. 04  |  Confidential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49440" y="192024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5F0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MATCHA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5F0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LATTE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5F0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봄 시즌 메뉴의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5F0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부재가 만드는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5F0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기회 손실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경쟁 카페 대비 시즌 한정 메뉴 라인업이 부족하여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봄철 고객 이탈이 가속화되고 있습니다.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731520"/>
            <a:ext cx="41148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0" y="731520"/>
            <a:ext cx="54864" cy="1188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868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봄 시즌 매출 하락 12%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234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작년 대비 3~5월 시즌 매출이 12% 감소, 신규 고객 유입률도 함께 둔화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2194560"/>
            <a:ext cx="41148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2194560"/>
            <a:ext cx="54864" cy="1188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경쟁사 말차 메뉴 확대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2697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경쟁 카페 3곳 모두 말차 라인업 강화, SNS 바이럴 효과 극대화 중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3657600"/>
            <a:ext cx="41148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3657600"/>
            <a:ext cx="54864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3794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MZ세대 트렌드 미반영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4160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말차는 2025~2026 카페 트렌드 1위, 현재 메뉴에 말차 기반 제품 전무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7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프리미엄 말차라떼 3종 출시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74320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45920"/>
            <a:ext cx="2743200" cy="4572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클래식 말차라떼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HOT / ICE  ₩5,500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교토산 1등급 말차 파우더를 사용한 정통 말차라떼.</a:t>
            </a:r>
            <a:endParaRPr lang="en-US" sz="11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진한 말차 본연의 풍미와 우유의 조화.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80160" y="4297680"/>
            <a:ext cx="1280160" cy="320040"/>
          </a:xfrm>
          <a:prstGeom prst="roundRect">
            <a:avLst>
              <a:gd name="adj" fmla="val 48571"/>
            </a:avLst>
          </a:prstGeom>
          <a:solidFill>
            <a:srgbClr val="4A7C59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42976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시그니처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1645920"/>
            <a:ext cx="274320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1645920"/>
            <a:ext cx="2743200" cy="45720"/>
          </a:xfrm>
          <a:prstGeom prst="rect">
            <a:avLst/>
          </a:prstGeom>
          <a:solidFill>
            <a:srgbClr val="C8A961"/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1965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흑당 말차라떼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03320" y="2331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HOT / ICE  ₩6,000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03320" y="28346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수제 흑당 시럽과 말차의 달콤 쌉싸름한 조합.</a:t>
            </a:r>
            <a:endParaRPr lang="en-US" sz="11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SNS 비주얼 극대화한 레이어드 음료.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06240" y="4297680"/>
            <a:ext cx="1280160" cy="320040"/>
          </a:xfrm>
          <a:prstGeom prst="roundRect">
            <a:avLst>
              <a:gd name="adj" fmla="val 48571"/>
            </a:avLst>
          </a:prstGeom>
          <a:solidFill>
            <a:srgbClr val="C8A961"/>
          </a:solidFill>
          <a:ln/>
        </p:spPr>
      </p:sp>
      <p:sp>
        <p:nvSpPr>
          <p:cNvPr id="17" name="Text 15"/>
          <p:cNvSpPr/>
          <p:nvPr/>
        </p:nvSpPr>
        <p:spPr>
          <a:xfrm>
            <a:off x="4206240" y="42976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SNS 추천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0" y="1645920"/>
            <a:ext cx="274320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0" y="1645920"/>
            <a:ext cx="2743200" cy="45720"/>
          </a:xfrm>
          <a:prstGeom prst="rect">
            <a:avLst/>
          </a:prstGeom>
          <a:solidFill>
            <a:srgbClr val="E8B4B8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1965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말차 크림라떼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29400" y="2331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ICE ONLY  ₩6,500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29400" y="28346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바닐라 크림치즈 폼 위에 말차를 더한 디저트형 음료.</a:t>
            </a:r>
            <a:endParaRPr lang="en-US" sz="11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달콤함을 원하는 고객층 공략.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32320" y="4297680"/>
            <a:ext cx="1280160" cy="320040"/>
          </a:xfrm>
          <a:prstGeom prst="roundRect">
            <a:avLst>
              <a:gd name="adj" fmla="val 48571"/>
            </a:avLst>
          </a:prstGeom>
          <a:solidFill>
            <a:srgbClr val="E8B4B8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0" y="42976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프리미엄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4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 CUSTOMERS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타겟 고객군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743200" cy="3108960"/>
          </a:xfrm>
          <a:prstGeom prst="roundRect">
            <a:avLst>
              <a:gd name="adj" fmla="val 4000"/>
            </a:avLst>
          </a:prstGeom>
          <a:solidFill>
            <a:srgbClr val="3A5A4E"/>
          </a:solidFill>
          <a:ln w="6350">
            <a:solidFill>
              <a:srgbClr val="4A6A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0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트렌드 세터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B0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20~28세 여성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SNS 활동이 활발하고 새로운 카페 메뉴를 적극적으로 탐색하는 얼리어답터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0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#인스타감성  #카페투어  #신메뉴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1645920"/>
            <a:ext cx="2743200" cy="3108960"/>
          </a:xfrm>
          <a:prstGeom prst="roundRect">
            <a:avLst>
              <a:gd name="adj" fmla="val 4000"/>
            </a:avLst>
          </a:prstGeom>
          <a:solidFill>
            <a:srgbClr val="3A5A4E"/>
          </a:solidFill>
          <a:ln w="6350">
            <a:solidFill>
              <a:srgbClr val="4A6A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1920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0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프리미엄 추구형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749040" y="2286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B0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28~38세 직장인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49040" y="27432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품질 좋은 원재료와 건강한 음료를 선호하며 가격보다 품질을 중시하는 고객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49040" y="38404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0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#프리미엄  #건강  #원재료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1645920"/>
            <a:ext cx="2743200" cy="3108960"/>
          </a:xfrm>
          <a:prstGeom prst="roundRect">
            <a:avLst>
              <a:gd name="adj" fmla="val 4000"/>
            </a:avLst>
          </a:prstGeom>
          <a:solidFill>
            <a:srgbClr val="3A5A4E"/>
          </a:solidFill>
          <a:ln w="6350">
            <a:solidFill>
              <a:srgbClr val="4A6A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1920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0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주말 카페 방문객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675120" y="2286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B0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30~45세 가족 단위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0" y="27432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주말 외출 시 카페를 방문하는 가족 고객. 다양한 옵션과 디저트 페어링에 관심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0" y="38404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0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#주말나들이  #가족  #디저트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7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DETAIL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라인업 상세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2011680"/>
                <a:gridCol w="1188720"/>
                <a:gridCol w="9144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제품명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원재료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특징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제공 방식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4A3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6666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클래식 말차라떼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교토산 1등급 말차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유기농 우유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전통 다도식 거품 공법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말차 농도 조절 가능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HOT / ICE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A7C5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₩5,500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6666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흑당 말차라떼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교토산 말차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오키나와 흑당 시럽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레이어드 비주얼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SNS 포토제닉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HOT / ICE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A7C5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₩6,000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6666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말차 크림라떼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교토산 말차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바닐라 크림치즈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디저트형 음료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크림치즈 폼 토핑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ICE ONLY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A7C5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₩6,500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solidFill>
            <a:srgbClr val="E8F0E8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4114800"/>
            <a:ext cx="36576" cy="45720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114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제품은 디카페인 옵션 및 두유/오트밀크 변경이 가능합니다 (추가 +500원)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4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EXPECTED KPI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 성과 지표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3A5A4E"/>
          </a:solidFill>
          <a:ln w="6350">
            <a:solidFill>
              <a:srgbClr val="4A6A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916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예상 판매량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20116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FB0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3,200잔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4360" y="2651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 매장 합산 기준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51760" y="155448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3A5A4E"/>
          </a:solidFill>
          <a:ln w="6350">
            <a:solidFill>
              <a:srgbClr val="4A6A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16916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추가 매출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88920" y="20116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FB0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19.2M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788920" y="2651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 객단가 ₩6,000 기준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46320" y="155448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3A5A4E"/>
          </a:solidFill>
          <a:ln w="6350">
            <a:solidFill>
              <a:srgbClr val="4A6A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6916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원가율 목표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3480" y="20116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FB0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983480" y="2651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메뉴 대비 -3%p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040880" y="155448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3A5A4E"/>
          </a:solidFill>
          <a:ln w="6350">
            <a:solidFill>
              <a:srgbClr val="4A6A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78040" y="16916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SNS 도달 목표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78040" y="20116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FB0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50K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178040" y="2651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런칭 첫 달 인스타그램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3A5A4E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분기별 매출 기여도 전망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39776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Q2 (런칭)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920240" y="3995928"/>
            <a:ext cx="6400800" cy="219456"/>
          </a:xfrm>
          <a:prstGeom prst="roundRect">
            <a:avLst>
              <a:gd name="adj" fmla="val 50000"/>
            </a:avLst>
          </a:prstGeom>
          <a:solidFill>
            <a:srgbClr val="2D4A3E"/>
          </a:solidFill>
          <a:ln/>
        </p:spPr>
      </p:sp>
      <p:sp>
        <p:nvSpPr>
          <p:cNvPr id="24" name="Shape 22"/>
          <p:cNvSpPr/>
          <p:nvPr/>
        </p:nvSpPr>
        <p:spPr>
          <a:xfrm>
            <a:off x="1920240" y="3995928"/>
            <a:ext cx="3291840" cy="219456"/>
          </a:xfrm>
          <a:prstGeom prst="roundRect">
            <a:avLst>
              <a:gd name="adj" fmla="val 50000"/>
            </a:avLst>
          </a:prstGeom>
          <a:solidFill>
            <a:srgbClr val="4A7C59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397764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42976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Q3 (성장)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920240" y="4315968"/>
            <a:ext cx="6400800" cy="219456"/>
          </a:xfrm>
          <a:prstGeom prst="roundRect">
            <a:avLst>
              <a:gd name="adj" fmla="val 50000"/>
            </a:avLst>
          </a:prstGeom>
          <a:solidFill>
            <a:srgbClr val="2D4A3E"/>
          </a:solidFill>
          <a:ln/>
        </p:spPr>
      </p:sp>
      <p:sp>
        <p:nvSpPr>
          <p:cNvPr id="28" name="Shape 26"/>
          <p:cNvSpPr/>
          <p:nvPr/>
        </p:nvSpPr>
        <p:spPr>
          <a:xfrm>
            <a:off x="1920240" y="4315968"/>
            <a:ext cx="5120640" cy="219456"/>
          </a:xfrm>
          <a:prstGeom prst="roundRect">
            <a:avLst>
              <a:gd name="adj" fmla="val 50000"/>
            </a:avLst>
          </a:prstGeom>
          <a:solidFill>
            <a:srgbClr val="C8A961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429768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70%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1520" y="46177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Q4 (안정)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920240" y="4636008"/>
            <a:ext cx="6400800" cy="219456"/>
          </a:xfrm>
          <a:prstGeom prst="roundRect">
            <a:avLst>
              <a:gd name="adj" fmla="val 50000"/>
            </a:avLst>
          </a:prstGeom>
          <a:solidFill>
            <a:srgbClr val="2D4A3E"/>
          </a:solidFill>
          <a:ln/>
        </p:spPr>
      </p:sp>
      <p:sp>
        <p:nvSpPr>
          <p:cNvPr id="32" name="Shape 30"/>
          <p:cNvSpPr/>
          <p:nvPr/>
        </p:nvSpPr>
        <p:spPr>
          <a:xfrm>
            <a:off x="1920240" y="4636008"/>
            <a:ext cx="4389120" cy="219456"/>
          </a:xfrm>
          <a:prstGeom prst="roundRect">
            <a:avLst>
              <a:gd name="adj" fmla="val 50000"/>
            </a:avLst>
          </a:prstGeom>
          <a:solidFill>
            <a:srgbClr val="5FA8A8"/>
          </a:solidFill>
          <a:ln/>
        </p:spPr>
      </p:sp>
      <p:sp>
        <p:nvSpPr>
          <p:cNvPr id="33" name="Text 31"/>
          <p:cNvSpPr/>
          <p:nvPr/>
        </p:nvSpPr>
        <p:spPr>
          <a:xfrm>
            <a:off x="5760720" y="461772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60%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7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LAUNCH TIMELINE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런칭 일정 로드맵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148840"/>
            <a:ext cx="8229600" cy="36576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2011680"/>
            <a:ext cx="201168" cy="201168"/>
          </a:xfrm>
          <a:prstGeom prst="ellipse">
            <a:avLst/>
          </a:prstGeom>
          <a:solidFill>
            <a:srgbClr val="4A7C59"/>
          </a:solidFill>
          <a:ln w="25400">
            <a:solidFill>
              <a:srgbClr val="F5F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468880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4A7C5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4688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7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4월 1주~2주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및 테스트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33756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원재료 수급 확정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레시피 최종 테스트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내부 시음회 진행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2011680"/>
            <a:ext cx="201168" cy="201168"/>
          </a:xfrm>
          <a:prstGeom prst="ellipse">
            <a:avLst/>
          </a:prstGeom>
          <a:solidFill>
            <a:srgbClr val="C8A961"/>
          </a:solidFill>
          <a:ln w="25400">
            <a:solidFill>
              <a:srgbClr val="F5F0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2468880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C8A961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24688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60320" y="27889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7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4월 3주~4주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3017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마케팅 준비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60320" y="333756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SNS 콘텐츠 제작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인플루언서 시딩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매장 POP 제작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2011680"/>
            <a:ext cx="201168" cy="201168"/>
          </a:xfrm>
          <a:prstGeom prst="ellipse">
            <a:avLst/>
          </a:prstGeom>
          <a:solidFill>
            <a:srgbClr val="2D4A3E"/>
          </a:solidFill>
          <a:ln w="25400">
            <a:solidFill>
              <a:srgbClr val="F5F0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468880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2D4A3E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24688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63440" y="27889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7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5월 1주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3017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소프트 런칭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63440" y="333756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1개 매장 선행 출시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고객 반응 수집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레시피 미세 조정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12280" y="2011680"/>
            <a:ext cx="201168" cy="201168"/>
          </a:xfrm>
          <a:prstGeom prst="ellipse">
            <a:avLst/>
          </a:prstGeom>
          <a:solidFill>
            <a:srgbClr val="4A7C59"/>
          </a:solidFill>
          <a:ln w="25400">
            <a:solidFill>
              <a:srgbClr val="F5F0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0" y="2468880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4A7C59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24688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66560" y="27889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7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5월 2주~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66560" y="3017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전매장 런칭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66560" y="333756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전 매장 동시 출시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런칭 이벤트 진행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성과 모니터링 시작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4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7315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dirty="0">
                <a:solidFill>
                  <a:srgbClr val="3A5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371600" y="164592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3000" b="1" dirty="0">
                <a:solidFill>
                  <a:srgbClr val="F5F0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잔의 말차에
</a:t>
            </a:r>
            <a:pPr algn="ctr" indent="0" marL="0">
              <a:lnSpc>
                <a:spcPct val="150000"/>
              </a:lnSpc>
              <a:buNone/>
            </a:pPr>
            <a:r>
              <a:rPr lang="en-US" sz="3000" b="1" dirty="0">
                <a:solidFill>
                  <a:srgbClr val="7FB0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자연의 깊이</a:t>
            </a:r>
            <a:pPr algn="ctr" indent="0" marL="0">
              <a:lnSpc>
                <a:spcPct val="150000"/>
              </a:lnSpc>
              <a:buNone/>
            </a:pPr>
            <a:r>
              <a:rPr lang="en-US" sz="3000" b="1" dirty="0">
                <a:solidFill>
                  <a:srgbClr val="F5F0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와 </a:t>
            </a:r>
            <a:pPr algn="ctr" indent="0" marL="0">
              <a:lnSpc>
                <a:spcPct val="150000"/>
              </a:lnSpc>
              <a:buNone/>
            </a:pPr>
            <a:r>
              <a:rPr lang="en-US" sz="3000" b="1" dirty="0">
                <a:solidFill>
                  <a:srgbClr val="7FB0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장인의 정성</a:t>
            </a:r>
            <a:pPr algn="ctr" indent="0" marL="0">
              <a:lnSpc>
                <a:spcPct val="150000"/>
              </a:lnSpc>
              <a:buNone/>
            </a:pPr>
            <a:r>
              <a:rPr lang="en-US" sz="3000" b="1" dirty="0">
                <a:solidFill>
                  <a:srgbClr val="F5F0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담다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0" y="3383280"/>
            <a:ext cx="914400" cy="27432"/>
          </a:xfrm>
          <a:prstGeom prst="rect">
            <a:avLst/>
          </a:prstGeom>
          <a:solidFill>
            <a:srgbClr val="C8A961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0" y="3749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자연 그대로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74720" y="3749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프리미엄 품질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0" y="3749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고객과의 연결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0" y="3749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지속 가능성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A7C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828800"/>
            <a:ext cx="7315200" cy="7315200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2468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0D0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말차라떼와 함께 새로운 시즌을 시작합니다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메뉴개발팀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0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C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menu@cafe.co.kr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0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C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김말차 팀장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5216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연락처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52160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C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02-1234-5678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411480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162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4114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4A3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제안서 전문 다운로드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카페 신제품 말차라떼 제안서</dc:title>
  <dc:subject>2026 Spring New Menu Proposal</dc:subject>
  <dc:creator>메뉴개발팀</dc:creator>
  <cp:lastModifiedBy>메뉴개발팀</cp:lastModifiedBy>
  <cp:revision>1</cp:revision>
  <dcterms:created xsi:type="dcterms:W3CDTF">2026-04-02T20:14:02Z</dcterms:created>
  <dcterms:modified xsi:type="dcterms:W3CDTF">2026-04-02T20:14:02Z</dcterms:modified>
</cp:coreProperties>
</file>